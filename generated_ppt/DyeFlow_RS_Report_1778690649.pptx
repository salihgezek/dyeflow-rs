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DyeFlow 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1005840"/>
            <a:ext cx="178308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" y="1115568"/>
            <a:ext cx="1563624" cy="283464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19" y="1197864"/>
            <a:ext cx="14173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PROJECT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609344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1580" y="1609344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After Washing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2083525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174965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Fabric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1580" y="2174965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500 kg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2649147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740587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1580" y="2740587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" y="3214769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306209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Heating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1580" y="3306209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Natural 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" y="3780390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" y="3871830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Currency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1580" y="3871830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" y="4346012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4437452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Carry 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1580" y="4437452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2 %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8056" y="4911634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003074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Fabric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1580" y="5003074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Dry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" y="5477255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67712" y="1005840"/>
            <a:ext cx="178308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77440" y="1115568"/>
            <a:ext cx="1563624" cy="283464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50592" y="1197864"/>
            <a:ext cx="14173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MACHINE INFORMATION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32304" y="1609344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Machine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9252" y="1609344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600A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95728" y="2177796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32304" y="2269236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9252" y="2269236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600 kg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95728" y="2837688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32304" y="2929128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Drain 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9252" y="2929128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5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95728" y="3497580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32304" y="3589020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Pump 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59252" y="3589020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24 kW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95728" y="4157472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32304" y="4248912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Reel Power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59252" y="4248912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2.2 kW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95728" y="4817364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32304" y="4908804"/>
            <a:ext cx="82021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Total Power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9252" y="4908804"/>
            <a:ext cx="784555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28.2 kW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95728" y="5477256"/>
            <a:ext cx="1527048" cy="3657"/>
          </a:xfrm>
          <a:prstGeom prst="rect">
            <a:avLst/>
          </a:prstGeom>
          <a:solidFill>
            <a:srgbClr val="E1E8F1"/>
          </a:solidFill>
          <a:ln w="8890">
            <a:solidFill>
              <a:srgbClr val="E1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206240" y="932688"/>
            <a:ext cx="150876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0" y="932688"/>
            <a:ext cx="50292" cy="1325880"/>
          </a:xfrm>
          <a:prstGeom prst="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79" y="1042416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EB4000"/>
                </a:solidFill>
                <a:latin typeface="Aptos"/>
              </a:rPr>
              <a:t>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90288" y="1051560"/>
            <a:ext cx="1033271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TOTAL COST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97679" y="1371600"/>
            <a:ext cx="132588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€177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79" y="1682495"/>
            <a:ext cx="132588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0.354 €/kg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25312" y="932688"/>
            <a:ext cx="150876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25312" y="932688"/>
            <a:ext cx="50292" cy="132588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16751" y="1042416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59" y="1051560"/>
            <a:ext cx="1033271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TOTAL TIME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16751" y="1371600"/>
            <a:ext cx="132588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169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16751" y="1682495"/>
            <a:ext cx="132588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min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44383" y="932688"/>
            <a:ext cx="150876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644383" y="932688"/>
            <a:ext cx="50292" cy="132588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35823" y="1042416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28431" y="1051560"/>
            <a:ext cx="1033271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ENERGY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35823" y="1371600"/>
            <a:ext cx="132588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0.11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35823" y="1682495"/>
            <a:ext cx="132588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kWh/kg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06240" y="2487168"/>
            <a:ext cx="150876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06240" y="2487168"/>
            <a:ext cx="50292" cy="132588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79" y="2596896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◊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90288" y="2606039"/>
            <a:ext cx="1033271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WATER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97679" y="2926079"/>
            <a:ext cx="132588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48.0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7679" y="3236975"/>
            <a:ext cx="132588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L/kg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25312" y="2487168"/>
            <a:ext cx="150876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25312" y="2487168"/>
            <a:ext cx="50292" cy="132588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16751" y="2596896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59" y="2606039"/>
            <a:ext cx="1033271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CO₂ EMISSION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16751" y="2926079"/>
            <a:ext cx="132588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182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16751" y="3236975"/>
            <a:ext cx="132588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kg/batch | 364 g/kg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644383" y="2487168"/>
            <a:ext cx="150876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44383" y="2487168"/>
            <a:ext cx="50292" cy="132588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35823" y="2596896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⚗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028431" y="2606039"/>
            <a:ext cx="1033271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CHEMICAL COST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35823" y="2926079"/>
            <a:ext cx="132588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€0.0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35823" y="3236975"/>
            <a:ext cx="132588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0.000 €/kg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040" y="5623560"/>
            <a:ext cx="11384280" cy="4389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5769864"/>
            <a:ext cx="91440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EB4000"/>
                </a:solidFill>
                <a:latin typeface="Aptos"/>
              </a:rPr>
              <a:t>⚙  INSIGHT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17320" y="5751576"/>
            <a:ext cx="97840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This process has a total cost of €0.354 per kg with 364 g CO₂ emission and 48.0 L water usage per kg.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Process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Temperature &amp; Chemical Dosing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969264"/>
            <a:ext cx="11658600" cy="4800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078992"/>
            <a:ext cx="310896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300" b="0">
                <a:solidFill>
                  <a:srgbClr val="001940"/>
                </a:solidFill>
                <a:latin typeface="Aptos"/>
              </a:rPr>
              <a:t>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1115568"/>
            <a:ext cx="9601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1. FILLING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2576" y="1042415"/>
            <a:ext cx="4572" cy="365760"/>
          </a:xfrm>
          <a:prstGeom prst="rect">
            <a:avLst/>
          </a:prstGeom>
          <a:solidFill>
            <a:srgbClr val="DCE4EE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1078992"/>
            <a:ext cx="310896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300" b="0">
                <a:solidFill>
                  <a:srgbClr val="001940"/>
                </a:solidFill>
                <a:latin typeface="Aptos"/>
              </a:rPr>
              <a:t>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1115568"/>
            <a:ext cx="9601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2. HEATING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6" y="1042415"/>
            <a:ext cx="4572" cy="365760"/>
          </a:xfrm>
          <a:prstGeom prst="rect">
            <a:avLst/>
          </a:prstGeom>
          <a:solidFill>
            <a:srgbClr val="DCE4EE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078992"/>
            <a:ext cx="310896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300" b="0">
                <a:solidFill>
                  <a:srgbClr val="001940"/>
                </a:solidFill>
                <a:latin typeface="Aptos"/>
              </a:rPr>
              <a:t>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1115568"/>
            <a:ext cx="9601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3. PROCESS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05856" y="1042415"/>
            <a:ext cx="4572" cy="365760"/>
          </a:xfrm>
          <a:prstGeom prst="rect">
            <a:avLst/>
          </a:prstGeom>
          <a:solidFill>
            <a:srgbClr val="DCE4EE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16168" y="1078992"/>
            <a:ext cx="310896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300" b="0">
                <a:solidFill>
                  <a:srgbClr val="001940"/>
                </a:solidFill>
                <a:latin typeface="Aptos"/>
              </a:rPr>
              <a:t>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1115568"/>
            <a:ext cx="9601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4. COOLING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7496" y="1042415"/>
            <a:ext cx="4572" cy="365760"/>
          </a:xfrm>
          <a:prstGeom prst="rect">
            <a:avLst/>
          </a:prstGeom>
          <a:solidFill>
            <a:srgbClr val="DCE4EE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078992"/>
            <a:ext cx="310896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300" b="0">
                <a:solidFill>
                  <a:srgbClr val="001940"/>
                </a:solidFill>
                <a:latin typeface="Apto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6136" y="1115568"/>
            <a:ext cx="9601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5. DRAIN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89136" y="1042415"/>
            <a:ext cx="4572" cy="365760"/>
          </a:xfrm>
          <a:prstGeom prst="rect">
            <a:avLst/>
          </a:prstGeom>
          <a:solidFill>
            <a:srgbClr val="DCE4EE"/>
          </a:solidFill>
          <a:ln w="889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1078992"/>
            <a:ext cx="310896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300" b="0">
                <a:solidFill>
                  <a:srgbClr val="001940"/>
                </a:solidFill>
                <a:latin typeface="Aptos"/>
              </a:rPr>
              <a:t>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7776" y="1115568"/>
            <a:ext cx="9601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6. EXTRACTION</a:t>
            </a:r>
          </a:p>
        </p:txBody>
      </p:sp>
      <p:pic>
        <p:nvPicPr>
          <p:cNvPr id="29" name="Picture 28" descr="v54_single_graph_17786906498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9418320" cy="37033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104120" y="1737360"/>
            <a:ext cx="1572768" cy="2971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58984" y="1810512"/>
            <a:ext cx="1463040" cy="274320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1901952"/>
            <a:ext cx="1389888" cy="822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CHEMICAL LEGEND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32136" y="2231135"/>
            <a:ext cx="201168" cy="201168"/>
          </a:xfrm>
          <a:prstGeom prst="roundRect">
            <a:avLst/>
          </a:prstGeom>
          <a:solidFill>
            <a:srgbClr val="009950"/>
          </a:solidFill>
          <a:ln w="8890">
            <a:solidFill>
              <a:srgbClr val="009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5852" y="2285451"/>
            <a:ext cx="17373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4744" y="2271369"/>
            <a:ext cx="109728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32136" y="2560319"/>
            <a:ext cx="201168" cy="201168"/>
          </a:xfrm>
          <a:prstGeom prst="roundRect">
            <a:avLst/>
          </a:prstGeom>
          <a:solidFill>
            <a:srgbClr val="FF9000"/>
          </a:solidFill>
          <a:ln w="8890">
            <a:solidFill>
              <a:srgbClr val="F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5852" y="2614635"/>
            <a:ext cx="17373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24744" y="2600553"/>
            <a:ext cx="109728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32136" y="2889503"/>
            <a:ext cx="201168" cy="201168"/>
          </a:xfrm>
          <a:prstGeom prst="roundRect">
            <a:avLst/>
          </a:prstGeom>
          <a:solidFill>
            <a:srgbClr val="0067B8"/>
          </a:solidFill>
          <a:ln w="8890">
            <a:solidFill>
              <a:srgbClr val="00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5852" y="2943819"/>
            <a:ext cx="17373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4744" y="2929737"/>
            <a:ext cx="109728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Baylase Assist RP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32136" y="3218687"/>
            <a:ext cx="201168" cy="201168"/>
          </a:xfrm>
          <a:prstGeom prst="roundRect">
            <a:avLst/>
          </a:prstGeom>
          <a:solidFill>
            <a:srgbClr val="7E57C2"/>
          </a:solidFill>
          <a:ln w="889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5852" y="3273003"/>
            <a:ext cx="17373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4744" y="3258921"/>
            <a:ext cx="109728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pH Check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32136" y="3547871"/>
            <a:ext cx="201168" cy="201168"/>
          </a:xfrm>
          <a:prstGeom prst="roundRect">
            <a:avLst/>
          </a:prstGeom>
          <a:solidFill>
            <a:srgbClr val="002D69"/>
          </a:solidFill>
          <a:ln w="8890">
            <a:solidFill>
              <a:srgbClr val="002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5852" y="3602187"/>
            <a:ext cx="173736" cy="5486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24744" y="3588105"/>
            <a:ext cx="109728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Baylasse RP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5879592"/>
            <a:ext cx="1143000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6016752"/>
            <a:ext cx="192024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Total Cost €177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6016752"/>
            <a:ext cx="182880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Time 169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6016752"/>
            <a:ext cx="182880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Water 48.0 L/kg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6016752"/>
            <a:ext cx="182880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CO₂ 364 g/kg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6016752"/>
            <a:ext cx="210312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Energy 0.11 kWh/kg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Chemical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Step by Step Chemical Dosing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987552"/>
            <a:ext cx="11384280" cy="4434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07008"/>
            <a:ext cx="11887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EB4000"/>
                </a:solidFill>
                <a:latin typeface="Aptos"/>
              </a:rPr>
              <a:t>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207008"/>
            <a:ext cx="11887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EB4000"/>
                </a:solidFill>
                <a:latin typeface="Aptos"/>
              </a:rPr>
              <a:t>CHEMICAL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1207008"/>
            <a:ext cx="11887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EB4000"/>
                </a:solidFill>
                <a:latin typeface="Aptos"/>
              </a:rPr>
              <a:t>DOSAGE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207008"/>
            <a:ext cx="11887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EB4000"/>
                </a:solidFill>
                <a:latin typeface="Aptos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207008"/>
            <a:ext cx="11887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EB4000"/>
                </a:solidFill>
                <a:latin typeface="Aptos"/>
              </a:rPr>
              <a:t>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207008"/>
            <a:ext cx="11887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EB4000"/>
                </a:solidFill>
                <a:latin typeface="Aptos"/>
              </a:rPr>
              <a:t>COST IMPACT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472184"/>
            <a:ext cx="1083564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" y="1536192"/>
            <a:ext cx="228600" cy="228600"/>
          </a:xfrm>
          <a:prstGeom prst="roundRect">
            <a:avLst/>
          </a:prstGeom>
          <a:solidFill>
            <a:srgbClr val="009950"/>
          </a:solidFill>
          <a:ln w="8890">
            <a:solidFill>
              <a:srgbClr val="009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595628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1591056"/>
            <a:ext cx="23774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1591056"/>
            <a:ext cx="7772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1.60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591056"/>
            <a:ext cx="5943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g/l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15910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5910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€0.00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929384"/>
            <a:ext cx="1083564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4" y="1993391"/>
            <a:ext cx="228600" cy="228600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052827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048255"/>
            <a:ext cx="23774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Acetic Acid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2048255"/>
            <a:ext cx="7772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048255"/>
            <a:ext cx="5943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g/l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2048255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048255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€0.00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2386584"/>
            <a:ext cx="1083564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3504" y="2450591"/>
            <a:ext cx="228600" cy="228600"/>
          </a:xfrm>
          <a:prstGeom prst="roundRect">
            <a:avLst/>
          </a:prstGeom>
          <a:solidFill>
            <a:srgbClr val="005CB8"/>
          </a:solidFill>
          <a:ln w="8890">
            <a:solidFill>
              <a:srgbClr val="00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2510027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2505456"/>
            <a:ext cx="23774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Baylase Assist RP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2505456"/>
            <a:ext cx="7772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1.00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2505456"/>
            <a:ext cx="5943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g/l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25054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5054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€0.00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843784"/>
            <a:ext cx="1083564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" y="2907791"/>
            <a:ext cx="228600" cy="228600"/>
          </a:xfrm>
          <a:prstGeom prst="roundRect">
            <a:avLst/>
          </a:prstGeom>
          <a:solidFill>
            <a:srgbClr val="7E57C2"/>
          </a:solidFill>
          <a:ln w="889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2967227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2962656"/>
            <a:ext cx="23774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pH Check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9080" y="2962656"/>
            <a:ext cx="7772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2962656"/>
            <a:ext cx="5943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g/l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29626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29626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€0.00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3300984"/>
            <a:ext cx="10835640" cy="42062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3504" y="3364991"/>
            <a:ext cx="228600" cy="228600"/>
          </a:xfrm>
          <a:prstGeom prst="roundRect">
            <a:avLst/>
          </a:prstGeom>
          <a:solidFill>
            <a:srgbClr val="003366"/>
          </a:solidFill>
          <a:ln w="889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3424427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3419856"/>
            <a:ext cx="23774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Baylasse RP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69080" y="3419856"/>
            <a:ext cx="77724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4920" y="3419856"/>
            <a:ext cx="5943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g/l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34198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0.00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3419856"/>
            <a:ext cx="73152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€0.00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5641848"/>
            <a:ext cx="1138428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5870448"/>
            <a:ext cx="2103120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⚗  TOTAL CHEMICAL COST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5852160"/>
            <a:ext cx="2011680" cy="12801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€0.00 / batch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5852160"/>
            <a:ext cx="2011680" cy="12801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0.000 €/kg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Cost &amp; Utilities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Batch &amp; Per Kg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960120"/>
            <a:ext cx="11384280" cy="566928"/>
          </a:xfrm>
          <a:prstGeom prst="roundRect">
            <a:avLst/>
          </a:prstGeom>
          <a:solidFill>
            <a:srgbClr val="001940"/>
          </a:solidFill>
          <a:ln w="8890">
            <a:solidFill>
              <a:srgbClr val="001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161288"/>
            <a:ext cx="24688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TOTAL COST / BATCH  €177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161288"/>
            <a:ext cx="24688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TOTAL COST / KG  €0.354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161288"/>
            <a:ext cx="24688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ENERGY / KG  0.11 kWh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161288"/>
            <a:ext cx="24688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WATER / KG  48.0 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1755648"/>
            <a:ext cx="5303520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47672"/>
            <a:ext cx="210312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Batch Basis (Per Batch)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240280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Heating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258568"/>
            <a:ext cx="256032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800" y="2258568"/>
            <a:ext cx="2560320" cy="73152"/>
          </a:xfrm>
          <a:prstGeom prst="roundRect">
            <a:avLst/>
          </a:prstGeom>
          <a:solidFill>
            <a:srgbClr val="E63946"/>
          </a:solidFill>
          <a:ln w="889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2231136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€110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569464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Electricity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2587752"/>
            <a:ext cx="256032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800" y="2587752"/>
            <a:ext cx="213089" cy="73152"/>
          </a:xfrm>
          <a:prstGeom prst="roundRect">
            <a:avLst/>
          </a:prstGeom>
          <a:solidFill>
            <a:srgbClr val="005CB8"/>
          </a:solidFill>
          <a:ln w="8890">
            <a:solidFill>
              <a:srgbClr val="00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2560320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€9.18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898648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Chemical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2916936"/>
            <a:ext cx="256032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28800" y="2916936"/>
            <a:ext cx="18288" cy="73152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2889504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€0.00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227832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Water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246120"/>
            <a:ext cx="256032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8800" y="3246120"/>
            <a:ext cx="557095" cy="73152"/>
          </a:xfrm>
          <a:prstGeom prst="roundRect">
            <a:avLst/>
          </a:prstGeom>
          <a:solidFill>
            <a:srgbClr val="009688"/>
          </a:solidFill>
          <a:ln w="889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3218688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€24.0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557015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Waste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3575303"/>
            <a:ext cx="256032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28800" y="3575303"/>
            <a:ext cx="557095" cy="73152"/>
          </a:xfrm>
          <a:prstGeom prst="roundRect">
            <a:avLst/>
          </a:prstGeom>
          <a:solidFill>
            <a:srgbClr val="7E57C2"/>
          </a:solidFill>
          <a:ln w="889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3547872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€24.0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3886200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Labour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3904487"/>
            <a:ext cx="256032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828800" y="3904487"/>
            <a:ext cx="217731" cy="73152"/>
          </a:xfrm>
          <a:prstGeom prst="roundRect">
            <a:avLst/>
          </a:prstGeom>
          <a:solidFill>
            <a:srgbClr val="051C3A"/>
          </a:solidFill>
          <a:ln w="8890">
            <a:solidFill>
              <a:srgbClr val="05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17136" y="3877056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€9.38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270248"/>
            <a:ext cx="2560320" cy="12801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TOTAL    €177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755648"/>
            <a:ext cx="2377440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72200" y="1993392"/>
            <a:ext cx="914400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2295144"/>
            <a:ext cx="768096" cy="18288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Cost</a:t>
            </a:r>
            <a:br/>
            <a:r>
              <a:rPr sz="1200" b="1">
                <a:solidFill>
                  <a:srgbClr val="001940"/>
                </a:solidFill>
                <a:latin typeface="Aptos"/>
              </a:rPr>
              <a:t>Structure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2999232"/>
            <a:ext cx="91440" cy="91440"/>
          </a:xfrm>
          <a:prstGeom prst="roundRect">
            <a:avLst/>
          </a:prstGeom>
          <a:solidFill>
            <a:srgbClr val="E63946"/>
          </a:solidFill>
          <a:ln w="889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2990088"/>
            <a:ext cx="96012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Heating  62.4%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154680"/>
            <a:ext cx="91440" cy="91440"/>
          </a:xfrm>
          <a:prstGeom prst="roundRect">
            <a:avLst/>
          </a:prstGeom>
          <a:solidFill>
            <a:srgbClr val="005CB8"/>
          </a:solidFill>
          <a:ln w="8890">
            <a:solidFill>
              <a:srgbClr val="005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145536"/>
            <a:ext cx="96012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Electricity  5.2%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3310128"/>
            <a:ext cx="91440" cy="91440"/>
          </a:xfrm>
          <a:prstGeom prst="roundRect">
            <a:avLst/>
          </a:prstGeom>
          <a:solidFill>
            <a:srgbClr val="F59E0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3300984"/>
            <a:ext cx="96012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Chemical  0.0%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72200" y="3465576"/>
            <a:ext cx="91440" cy="91440"/>
          </a:xfrm>
          <a:prstGeom prst="roundRect">
            <a:avLst/>
          </a:prstGeom>
          <a:solidFill>
            <a:srgbClr val="009688"/>
          </a:solidFill>
          <a:ln w="889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3456432"/>
            <a:ext cx="96012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Water  13.6%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3621024"/>
            <a:ext cx="91440" cy="91440"/>
          </a:xfrm>
          <a:prstGeom prst="roundRect">
            <a:avLst/>
          </a:prstGeom>
          <a:solidFill>
            <a:srgbClr val="7E57C2"/>
          </a:solidFill>
          <a:ln w="8890">
            <a:solidFill>
              <a:srgbClr val="7E5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3611880"/>
            <a:ext cx="96012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Waste  13.6%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776472"/>
            <a:ext cx="91440" cy="91440"/>
          </a:xfrm>
          <a:prstGeom prst="roundRect">
            <a:avLst/>
          </a:prstGeom>
          <a:solidFill>
            <a:srgbClr val="051C3A"/>
          </a:solidFill>
          <a:ln w="8890">
            <a:solidFill>
              <a:srgbClr val="051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767328"/>
            <a:ext cx="960120" cy="914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Labour  5.3%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94192" y="1755648"/>
            <a:ext cx="3310128" cy="2880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1080" y="1965960"/>
            <a:ext cx="201168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Key Takeaway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2331720"/>
            <a:ext cx="2651760" cy="7772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Heating is the major cost driver. Optimizing this component will deliver the highest savings potential.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4892040"/>
            <a:ext cx="11384280" cy="868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102352"/>
            <a:ext cx="146304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Per Kg Basis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74519" y="5120640"/>
            <a:ext cx="1371600" cy="3200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Heating</a:t>
            </a:r>
            <a:br/>
            <a:r>
              <a:rPr sz="1200" b="1">
                <a:solidFill>
                  <a:srgbClr val="06162D"/>
                </a:solidFill>
                <a:latin typeface="Aptos"/>
              </a:rPr>
              <a:t>€0.221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47287" y="5120640"/>
            <a:ext cx="1371600" cy="3200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Electricity</a:t>
            </a:r>
            <a:br/>
            <a:r>
              <a:rPr sz="1200" b="1">
                <a:solidFill>
                  <a:srgbClr val="06162D"/>
                </a:solidFill>
                <a:latin typeface="Aptos"/>
              </a:rPr>
              <a:t>€0.018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0055" y="5120640"/>
            <a:ext cx="1371600" cy="3200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Chemical</a:t>
            </a:r>
            <a:br/>
            <a:r>
              <a:rPr sz="1200" b="1">
                <a:solidFill>
                  <a:srgbClr val="06162D"/>
                </a:solidFill>
                <a:latin typeface="Aptos"/>
              </a:rPr>
              <a:t>€0.000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92823" y="5120640"/>
            <a:ext cx="1371600" cy="3200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Water</a:t>
            </a:r>
            <a:br/>
            <a:r>
              <a:rPr sz="1200" b="1">
                <a:solidFill>
                  <a:srgbClr val="06162D"/>
                </a:solidFill>
                <a:latin typeface="Aptos"/>
              </a:rPr>
              <a:t>€0.048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65592" y="5120640"/>
            <a:ext cx="1371600" cy="3200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Waste</a:t>
            </a:r>
            <a:br/>
            <a:r>
              <a:rPr sz="1200" b="1">
                <a:solidFill>
                  <a:srgbClr val="06162D"/>
                </a:solidFill>
                <a:latin typeface="Aptos"/>
              </a:rPr>
              <a:t>€0.048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38360" y="5120640"/>
            <a:ext cx="1371600" cy="32004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Labour</a:t>
            </a:r>
            <a:br/>
            <a:r>
              <a:rPr sz="1200" b="1">
                <a:solidFill>
                  <a:srgbClr val="06162D"/>
                </a:solidFill>
                <a:latin typeface="Aptos"/>
              </a:rPr>
              <a:t>€0.019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01168"/>
            <a:ext cx="438912" cy="38404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146304"/>
            <a:ext cx="566928" cy="5303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64592"/>
            <a:ext cx="5669280" cy="310896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2100" b="1">
                <a:solidFill>
                  <a:srgbClr val="001940"/>
                </a:solidFill>
                <a:latin typeface="Aptos"/>
              </a:rPr>
              <a:t>Sustainability &amp; Carbon Footprint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512064"/>
            <a:ext cx="6035040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485669"/>
                </a:solidFill>
                <a:latin typeface="Aptos"/>
              </a:rPr>
              <a:t>Environmental Impact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1904" y="182880"/>
            <a:ext cx="713232" cy="20116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02568" y="173736"/>
            <a:ext cx="256032" cy="210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20856" y="201168"/>
            <a:ext cx="201168" cy="10058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530352"/>
            <a:ext cx="324612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Baylase RP System  |  13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04672"/>
            <a:ext cx="11795760" cy="9144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097280"/>
            <a:ext cx="23774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97280"/>
            <a:ext cx="50292" cy="114300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207007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1216152"/>
            <a:ext cx="190195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ELECTRICITY CO₂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536192"/>
            <a:ext cx="219456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22.7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847088"/>
            <a:ext cx="21945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kg / 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1097280"/>
            <a:ext cx="23774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54680" y="1097280"/>
            <a:ext cx="50292" cy="1143000"/>
          </a:xfrm>
          <a:prstGeom prst="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207007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EB4000"/>
                </a:solidFill>
                <a:latin typeface="Aptos"/>
              </a:rPr>
              <a:t>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1216152"/>
            <a:ext cx="190195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HEATING CO₂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536192"/>
            <a:ext cx="219456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159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847088"/>
            <a:ext cx="21945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kg / batch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097280"/>
            <a:ext cx="23774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1097280"/>
            <a:ext cx="50292" cy="114300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79" y="1207007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1216152"/>
            <a:ext cx="190195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TOTAL CO₂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79" y="1536192"/>
            <a:ext cx="219456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182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1847088"/>
            <a:ext cx="21945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kg / batch | 364 g/kg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1097280"/>
            <a:ext cx="237744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E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58200" y="1097280"/>
            <a:ext cx="50292" cy="1143000"/>
          </a:xfrm>
          <a:prstGeom prst="rect">
            <a:avLst/>
          </a:prstGeom>
          <a:solidFill>
            <a:srgbClr val="004487"/>
          </a:solidFill>
          <a:ln w="8890">
            <a:solidFill>
              <a:srgbClr val="004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207007"/>
            <a:ext cx="310896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700" b="1">
                <a:solidFill>
                  <a:srgbClr val="004487"/>
                </a:solidFill>
                <a:latin typeface="Aptos"/>
              </a:rPr>
              <a:t>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248" y="1216152"/>
            <a:ext cx="1901952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01940"/>
                </a:solidFill>
                <a:latin typeface="Aptos"/>
              </a:rPr>
              <a:t>WATER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1536192"/>
            <a:ext cx="2194560" cy="228600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900" b="1">
                <a:solidFill>
                  <a:srgbClr val="03122A"/>
                </a:solidFill>
                <a:latin typeface="Aptos"/>
              </a:rPr>
              <a:t>24000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1847088"/>
            <a:ext cx="219456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06162D"/>
                </a:solidFill>
                <a:latin typeface="Aptos"/>
              </a:rPr>
              <a:t>L / batch | 48.0 L/kg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2743200"/>
            <a:ext cx="11064240" cy="19202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2962656"/>
            <a:ext cx="228600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Impact Distribution (Per Batch)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3401568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Electricity CO₂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84248" y="3419856"/>
            <a:ext cx="745236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84248" y="3419856"/>
            <a:ext cx="929188" cy="73152"/>
          </a:xfrm>
          <a:prstGeom prst="roundRect">
            <a:avLst/>
          </a:prstGeom>
          <a:solidFill>
            <a:srgbClr val="00965A"/>
          </a:solidFill>
          <a:ln w="8890">
            <a:solidFill>
              <a:srgbClr val="00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64624" y="3392424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12.5%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3858768"/>
            <a:ext cx="1143000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6162D"/>
                </a:solidFill>
                <a:latin typeface="Aptos"/>
              </a:rPr>
              <a:t>Heating CO₂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84248" y="3877055"/>
            <a:ext cx="7452360" cy="73152"/>
          </a:xfrm>
          <a:prstGeom prst="roundRect">
            <a:avLst/>
          </a:prstGeom>
          <a:solidFill>
            <a:srgbClr val="ECF1F7"/>
          </a:solidFill>
          <a:ln w="8890">
            <a:solidFill>
              <a:srgbClr val="EC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984248" y="3877055"/>
            <a:ext cx="6523171" cy="73152"/>
          </a:xfrm>
          <a:prstGeom prst="roundRect">
            <a:avLst/>
          </a:prstGeom>
          <a:solidFill>
            <a:srgbClr val="EB4000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4624" y="3849624"/>
            <a:ext cx="676656" cy="10972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1">
                <a:solidFill>
                  <a:srgbClr val="485669"/>
                </a:solidFill>
                <a:latin typeface="Aptos"/>
              </a:rPr>
              <a:t>87.5%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983480"/>
            <a:ext cx="110642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AD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193792"/>
            <a:ext cx="128016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8250"/>
                </a:solidFill>
                <a:latin typeface="Aptos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5184648"/>
            <a:ext cx="8961120" cy="11887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0">
                <a:solidFill>
                  <a:srgbClr val="06162D"/>
                </a:solidFill>
                <a:latin typeface="Aptos"/>
              </a:rPr>
              <a:t>This process generates 364 g CO₂ per kg and consumes 0.11 kWh energy and 48.0 L water per kg.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" y="6419088"/>
            <a:ext cx="530352" cy="164592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r>
              <a:rPr sz="1200" b="1">
                <a:solidFill>
                  <a:srgbClr val="001940"/>
                </a:solidFill>
                <a:latin typeface="Aptos"/>
              </a:rPr>
              <a:t>DyeFlow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" y="6437376"/>
            <a:ext cx="201168" cy="1645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B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" y="6460236"/>
            <a:ext cx="155448" cy="64008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1">
                <a:solidFill>
                  <a:srgbClr val="EB4000"/>
                </a:solidFill>
                <a:latin typeface="Aptos"/>
              </a:rPr>
              <a:t>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6446520"/>
            <a:ext cx="2743200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ctr"/>
            <a:r>
              <a:rPr sz="1200" b="0">
                <a:solidFill>
                  <a:srgbClr val="485669"/>
                </a:solidFill>
                <a:latin typeface="Aptos"/>
              </a:rPr>
              <a:t>Smart Process. Lower Cost. Better Future.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73968" y="6446520"/>
            <a:ext cx="603504" cy="146304"/>
          </a:xfrm>
          <a:prstGeom prst="rect">
            <a:avLst/>
          </a:prstGeom>
          <a:noFill/>
        </p:spPr>
        <p:txBody>
          <a:bodyPr wrap="square" lIns="38100" rIns="38100" tIns="12700" bIns="12700">
            <a:spAutoFit/>
          </a:bodyPr>
          <a:lstStyle/>
          <a:p>
            <a:pPr algn="r"/>
            <a:r>
              <a:rPr sz="1200" b="0">
                <a:solidFill>
                  <a:srgbClr val="485669"/>
                </a:solidFill>
                <a:latin typeface="Aptos"/>
              </a:rPr>
              <a:t>Page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