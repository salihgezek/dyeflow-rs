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Executive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Project input and KPI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960120"/>
            <a:ext cx="525780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43000"/>
            <a:ext cx="3108960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500" b="1">
                <a:solidFill>
                  <a:srgbClr val="001940"/>
                </a:solidFill>
                <a:latin typeface="Aptos"/>
              </a:rPr>
              <a:t>Baylase RP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444752"/>
            <a:ext cx="34747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Tanatex | After Washing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1828800"/>
            <a:ext cx="50292" cy="1051560"/>
          </a:xfrm>
          <a:prstGeom prst="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EB4000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COST/KG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€0.354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13432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3432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4872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CO₂/KG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364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4872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g/kg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22776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22776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14215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WATER/KG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4215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48.0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4215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L/kg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3246120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Fabric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246120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538727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Flote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3538727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3831335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Machine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3831335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600A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4123944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Heating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123944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Natural Gas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960120"/>
            <a:ext cx="525780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1143000"/>
            <a:ext cx="3108960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500" b="1">
                <a:solidFill>
                  <a:srgbClr val="001940"/>
                </a:solidFill>
                <a:latin typeface="Aptos"/>
              </a:rPr>
              <a:t>Standard washing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1444752"/>
            <a:ext cx="34747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Tanatex | After Washing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1968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01968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7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86016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COST/KG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€0.419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3407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11312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11312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CO₂/KG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439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g/kg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20656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20656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12096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04704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WATER/KG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2096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54.0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12096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L/kg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56832" y="3246120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Fabric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3246120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500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6832" y="3538727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Flote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3538727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3831335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Machine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43800" y="3831335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600A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6832" y="4123944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Heating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43800" y="4123944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Natural Gas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88152" y="2990088"/>
            <a:ext cx="411480" cy="21945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EB4000"/>
                </a:solidFill>
                <a:latin typeface="Aptos"/>
              </a:rPr>
              <a:t>VS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Process Graph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Two process graphs side by side with chemical legends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960120"/>
            <a:ext cx="571500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960120"/>
            <a:ext cx="571500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54_cmp1_17786908377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6152"/>
            <a:ext cx="5349240" cy="3291840"/>
          </a:xfrm>
          <a:prstGeom prst="rect">
            <a:avLst/>
          </a:prstGeom>
        </p:spPr>
      </p:pic>
      <p:pic>
        <p:nvPicPr>
          <p:cNvPr id="14" name="Picture 13" descr="v54_cmp2_17786908377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16152"/>
            <a:ext cx="5349240" cy="3291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138928"/>
            <a:ext cx="534924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5212080"/>
            <a:ext cx="5239512" cy="219456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276088"/>
            <a:ext cx="5166359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CHEMICALS – PROJECT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" y="5568696"/>
            <a:ext cx="118872" cy="118872"/>
          </a:xfrm>
          <a:prstGeom prst="roundRect">
            <a:avLst/>
          </a:prstGeom>
          <a:solidFill>
            <a:srgbClr val="009950"/>
          </a:solidFill>
          <a:ln w="8890">
            <a:solidFill>
              <a:srgbClr val="009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" y="5603168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5592470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28672" y="5568696"/>
            <a:ext cx="118872" cy="118872"/>
          </a:xfrm>
          <a:prstGeom prst="roundRect">
            <a:avLst/>
          </a:prstGeom>
          <a:solidFill>
            <a:srgbClr val="FF9000"/>
          </a:solidFill>
          <a:ln w="8890">
            <a:solidFill>
              <a:srgbClr val="F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9644" y="5603168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1552" y="5592470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8120" y="5568696"/>
            <a:ext cx="118872" cy="118872"/>
          </a:xfrm>
          <a:prstGeom prst="roundRect">
            <a:avLst/>
          </a:prstGeom>
          <a:solidFill>
            <a:srgbClr val="0067B8"/>
          </a:solidFill>
          <a:ln w="8890">
            <a:solidFill>
              <a:srgbClr val="00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9092" y="5603168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1000" y="5592470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Baylase Assist RP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" y="5742432"/>
            <a:ext cx="118872" cy="118872"/>
          </a:xfrm>
          <a:prstGeom prst="roundRect">
            <a:avLst/>
          </a:prstGeom>
          <a:solidFill>
            <a:srgbClr val="7E57C2"/>
          </a:solidFill>
          <a:ln w="889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" y="5776904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5766206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pH Check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28672" y="5742432"/>
            <a:ext cx="118872" cy="118872"/>
          </a:xfrm>
          <a:prstGeom prst="roundRect">
            <a:avLst/>
          </a:prstGeom>
          <a:solidFill>
            <a:srgbClr val="002D69"/>
          </a:solidFill>
          <a:ln w="8890">
            <a:solidFill>
              <a:srgbClr val="00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9644" y="5776904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1552" y="5766206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Baylasse RP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138928"/>
            <a:ext cx="534924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9944" y="5212080"/>
            <a:ext cx="5239512" cy="219456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76088"/>
            <a:ext cx="5166359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CHEMICALS – PROJECT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5632704"/>
            <a:ext cx="164592" cy="164592"/>
          </a:xfrm>
          <a:prstGeom prst="roundRect">
            <a:avLst/>
          </a:prstGeom>
          <a:solidFill>
            <a:srgbClr val="009950"/>
          </a:solidFill>
          <a:ln w="8890">
            <a:solidFill>
              <a:srgbClr val="009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2356" y="5680435"/>
            <a:ext cx="14264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5665622"/>
            <a:ext cx="4782312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Cost Delta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Batch and kg-based cost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TOTAL COST/KG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0.354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0.419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HEATING/KG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0.221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0.265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ELECTRICITY/KG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WATER/KG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+12.5%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7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LABOUR/KG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7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7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+21.1%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47304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CHEMICAL/KG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0384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6E7882"/>
                </a:solidFill>
                <a:latin typeface="Aptos"/>
              </a:rPr>
              <a:t>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0384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6E7882"/>
                </a:solidFill>
                <a:latin typeface="Aptos"/>
              </a:rPr>
              <a:t>Equal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389120"/>
            <a:ext cx="1115568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645152"/>
            <a:ext cx="192024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Executive 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617720"/>
            <a:ext cx="813816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Project 1 shows the better total cost per kg in this comparison. Use the delta cards above to identify which utility or cost driver creates the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Carbon Intelligence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Batch and kg-based environmental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TOTAL CO₂/KG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364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439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+20.8%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ELECTRICITY CO₂/KG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45.3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57.2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HEATING CO₂/KG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318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382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ENERGY/KG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0.136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+25.9%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7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WATER/KG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7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48.0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54.0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7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+12.5%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47304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169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0384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208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+23.2%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0384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389120"/>
            <a:ext cx="1115568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645152"/>
            <a:ext cx="20116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8250"/>
                </a:solidFill>
                <a:latin typeface="Aptos"/>
              </a:rPr>
              <a:t>Sustainability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617720"/>
            <a:ext cx="80010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Project 1 shows the better CO₂ intensity per kg. The comparison separates electricity, heating, energy and water impacts for management review.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